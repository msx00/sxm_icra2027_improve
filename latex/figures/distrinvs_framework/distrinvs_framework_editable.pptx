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5079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731" y="67731"/>
            <a:ext cx="1998083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731" y="67731"/>
            <a:ext cx="1998083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21916" y="426709"/>
            <a:ext cx="1889713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69329" y="132076"/>
            <a:ext cx="230287" cy="230287"/>
          </a:xfrm>
          <a:prstGeom prst="ellipse">
            <a:avLst/>
          </a:prstGeom>
          <a:solidFill>
            <a:srgbClr val="2F6FAE"/>
          </a:solidFill>
          <a:ln w="6604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2715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482" y="104984"/>
            <a:ext cx="1578147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F6FAE"/>
                </a:solidFill>
                <a:latin typeface="Arial"/>
              </a:rPr>
              <a:t>SOURCE 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546" y="67731"/>
            <a:ext cx="4063898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546" y="67731"/>
            <a:ext cx="4063898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187731" y="426709"/>
            <a:ext cx="3955528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35144" y="132076"/>
            <a:ext cx="230287" cy="230287"/>
          </a:xfrm>
          <a:prstGeom prst="ellipse">
            <a:avLst/>
          </a:prstGeom>
          <a:solidFill>
            <a:srgbClr val="7455A4"/>
          </a:solidFill>
          <a:ln w="6604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853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9297" y="104984"/>
            <a:ext cx="3643962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7455A4"/>
                </a:solidFill>
                <a:latin typeface="Arial"/>
              </a:rPr>
              <a:t>DISTRIBUTIONAL SURFACE SPLATTING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5176" y="67731"/>
            <a:ext cx="3420447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5176" y="67731"/>
            <a:ext cx="3420447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319362" y="426709"/>
            <a:ext cx="3312077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66774" y="132076"/>
            <a:ext cx="230287" cy="230287"/>
          </a:xfrm>
          <a:prstGeom prst="ellipse">
            <a:avLst/>
          </a:prstGeom>
          <a:solidFill>
            <a:srgbClr val="D67723"/>
          </a:solidFill>
          <a:ln w="6604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0927" y="104984"/>
            <a:ext cx="3000511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D67723"/>
                </a:solidFill>
                <a:latin typeface="Arial"/>
              </a:rPr>
              <a:t>VISIBILITY-GUIDED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3356" y="67731"/>
            <a:ext cx="2370607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3356" y="67731"/>
            <a:ext cx="2370607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807541" y="426709"/>
            <a:ext cx="2262237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54953" y="132076"/>
            <a:ext cx="230287" cy="230287"/>
          </a:xfrm>
          <a:prstGeom prst="ellipse">
            <a:avLst/>
          </a:prstGeom>
          <a:solidFill>
            <a:srgbClr val="12857D"/>
          </a:solidFill>
          <a:ln w="6604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834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9107" y="104984"/>
            <a:ext cx="1950671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12857D"/>
                </a:solidFill>
                <a:latin typeface="Arial"/>
              </a:rPr>
              <a:t>FUSED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9968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F8DED5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257380" y="842581"/>
            <a:ext cx="128013" cy="137089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5393" y="842581"/>
            <a:ext cx="135327" cy="118395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20720" y="798962"/>
            <a:ext cx="143050" cy="162014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36976" y="740171"/>
            <a:ext cx="67731" cy="67731"/>
          </a:xfrm>
          <a:prstGeom prst="ellipse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514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RGB
Iₛ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779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6805" y="616357"/>
            <a:ext cx="106677" cy="379297"/>
          </a:xfrm>
          <a:prstGeom prst="rect">
            <a:avLst/>
          </a:prstGeom>
          <a:solidFill>
            <a:srgbClr val="CADFF1"/>
          </a:solidFill>
          <a:ln w="5715">
            <a:solidFill>
              <a:srgbClr val="CAD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095" y="616357"/>
            <a:ext cx="106677" cy="379297"/>
          </a:xfrm>
          <a:prstGeom prst="rect">
            <a:avLst/>
          </a:prstGeom>
          <a:solidFill>
            <a:srgbClr val="94BEDF"/>
          </a:solidFill>
          <a:ln w="5715">
            <a:solidFill>
              <a:srgbClr val="94B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3386" y="616357"/>
            <a:ext cx="106677" cy="379297"/>
          </a:xfrm>
          <a:prstGeom prst="rect">
            <a:avLst/>
          </a:prstGeom>
          <a:solidFill>
            <a:srgbClr val="5E96C5"/>
          </a:solidFill>
          <a:ln w="5715">
            <a:solidFill>
              <a:srgbClr val="5E9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6677" y="616357"/>
            <a:ext cx="106677" cy="379297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326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SPARSE
Dₛ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5591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14885" y="715381"/>
            <a:ext cx="142236" cy="142236"/>
          </a:xfrm>
          <a:prstGeom prst="ellipse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01283" y="699261"/>
            <a:ext cx="115143" cy="216741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9137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VALID
Mₛ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968" y="1300447"/>
            <a:ext cx="1706837" cy="3522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060" y="1324153"/>
            <a:ext cx="1652652" cy="30479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2" b="1" i="0">
                <a:solidFill>
                  <a:srgbClr val="2F6FAE"/>
                </a:solidFill>
                <a:latin typeface="Arial"/>
              </a:rPr>
              <a:t>calibration  Kₛ · Kₜ · Tₛ→ₜ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3386" y="1666198"/>
            <a:ext cx="0" cy="162556"/>
          </a:xfrm>
          <a:prstGeom prst="line">
            <a:avLst/>
          </a:prstGeom>
          <a:ln w="12001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1018683" y="1784051"/>
            <a:ext cx="89405" cy="89405"/>
          </a:xfrm>
          <a:prstGeom prst="triangle">
            <a:avLst/>
          </a:prstGeom>
          <a:solidFill>
            <a:srgbClr val="2F6FAE"/>
          </a:solidFill>
          <a:ln w="381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09968" y="1842300"/>
            <a:ext cx="1706837" cy="724728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 w="11556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699" y="1882939"/>
            <a:ext cx="1571374" cy="18287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2F6FAE"/>
                </a:solidFill>
                <a:latin typeface="Arial"/>
              </a:rPr>
              <a:t>DEPTH RELIABILITY ENCODER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792" y="2113227"/>
            <a:ext cx="643450" cy="318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11" y="2130160"/>
            <a:ext cx="602811" cy="27769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72331"/>
                </a:solidFill>
                <a:latin typeface="Arial"/>
              </a:rPr>
              <a:t>full-res
residual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71757" y="2113227"/>
            <a:ext cx="643450" cy="318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2076" y="2130160"/>
            <a:ext cx="602811" cy="27769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72331"/>
                </a:solidFill>
                <a:latin typeface="Arial"/>
              </a:rPr>
              <a:t>¼-res
context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1789" y="2272396"/>
            <a:ext cx="189648" cy="0"/>
          </a:xfrm>
          <a:prstGeom prst="line">
            <a:avLst/>
          </a:prstGeom>
          <a:ln w="9429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1112492" y="2233450"/>
            <a:ext cx="77891" cy="77891"/>
          </a:xfrm>
          <a:prstGeom prst="triangle">
            <a:avLst/>
          </a:prstGeom>
          <a:solidFill>
            <a:srgbClr val="2F6FAE"/>
          </a:solidFill>
          <a:ln w="381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16741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674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2F6FAE"/>
                </a:solidFill>
                <a:latin typeface="Arial"/>
              </a:rPr>
              <a:t>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5399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332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7455A4"/>
                </a:solidFill>
                <a:latin typeface="Arial"/>
              </a:rPr>
              <a:t>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4057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0990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2857D"/>
                </a:solidFill>
                <a:latin typeface="Arial"/>
              </a:rPr>
              <a:t>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2715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9648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D67723"/>
                </a:solidFill>
                <a:latin typeface="Arial"/>
              </a:rPr>
              <a:t>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71374" y="2722811"/>
            <a:ext cx="338658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88306" y="2736358"/>
            <a:ext cx="304792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72331"/>
                </a:solidFill>
                <a:latin typeface="Arial"/>
              </a:rPr>
              <a:t>Fₛ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6741" y="3041150"/>
            <a:ext cx="1693291" cy="25738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6" b="0" i="0">
                <a:solidFill>
                  <a:srgbClr val="5C6877"/>
                </a:solidFill>
                <a:latin typeface="Arial"/>
              </a:rPr>
              <a:t>μ mean · σ scale · n normal
c confidence · Fₛ feature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38658" y="3535591"/>
            <a:ext cx="1449457" cy="0"/>
          </a:xfrm>
          <a:prstGeom prst="line">
            <a:avLst/>
          </a:prstGeom>
          <a:ln w="8572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06389" y="3517413"/>
            <a:ext cx="47412" cy="2154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3801" y="3513792"/>
            <a:ext cx="47413" cy="3621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01214" y="3508027"/>
            <a:ext cx="47412" cy="5765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48626" y="3499347"/>
            <a:ext cx="47412" cy="868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6038" y="3487010"/>
            <a:ext cx="47412" cy="1233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43450" y="3470493"/>
            <a:ext cx="47412" cy="1651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0862" y="3449735"/>
            <a:ext cx="47412" cy="20758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8274" y="3425357"/>
            <a:ext cx="47413" cy="24378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85687" y="3398801"/>
            <a:ext cx="47412" cy="2655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33099" y="3372291"/>
            <a:ext cx="47412" cy="2651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80511" y="3348582"/>
            <a:ext cx="47412" cy="23709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7923" y="3330507"/>
            <a:ext cx="47412" cy="18075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75335" y="3320431"/>
            <a:ext cx="47412" cy="1007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22747" y="3319741"/>
            <a:ext cx="47412" cy="69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70159" y="3319741"/>
            <a:ext cx="47413" cy="8792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17572" y="3328533"/>
            <a:ext cx="47412" cy="17059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64984" y="3345592"/>
            <a:ext cx="47412" cy="2307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12396" y="3368665"/>
            <a:ext cx="47412" cy="2628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259808" y="3394951"/>
            <a:ext cx="47412" cy="26701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307220" y="3421652"/>
            <a:ext cx="47412" cy="2479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54632" y="3446449"/>
            <a:ext cx="47412" cy="21332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402044" y="3467781"/>
            <a:ext cx="47413" cy="1713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449457" y="3484914"/>
            <a:ext cx="47412" cy="1291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96869" y="3497824"/>
            <a:ext cx="47412" cy="916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44281" y="3506984"/>
            <a:ext cx="47412" cy="613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591693" y="3513117"/>
            <a:ext cx="47412" cy="388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639105" y="3517000"/>
            <a:ext cx="47412" cy="232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783993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728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−σ</a:t>
            </a:r>
          </a:p>
        </p:txBody>
      </p:sp>
      <p:sp>
        <p:nvSpPr>
          <p:cNvPr id="95" name="Oval 94"/>
          <p:cNvSpPr/>
          <p:nvPr/>
        </p:nvSpPr>
        <p:spPr>
          <a:xfrm>
            <a:off x="1007508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8242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μ</a:t>
            </a:r>
          </a:p>
        </p:txBody>
      </p:sp>
      <p:sp>
        <p:nvSpPr>
          <p:cNvPr id="97" name="Oval 96"/>
          <p:cNvSpPr/>
          <p:nvPr/>
        </p:nvSpPr>
        <p:spPr>
          <a:xfrm>
            <a:off x="1231022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71757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+σ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950671" y="2235144"/>
            <a:ext cx="284473" cy="0"/>
          </a:xfrm>
          <a:prstGeom prst="line">
            <a:avLst/>
          </a:prstGeom>
          <a:ln w="15430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5400000">
            <a:off x="2186715" y="2186715"/>
            <a:ext cx="96856" cy="96856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309648" y="568945"/>
            <a:ext cx="1063386" cy="338658"/>
          </a:xfrm>
          <a:prstGeom prst="roundRect">
            <a:avLst>
              <a:gd name="adj" fmla="val 8000"/>
            </a:avLst>
          </a:prstGeom>
          <a:solidFill>
            <a:srgbClr val="F0EAF7"/>
          </a:solidFill>
          <a:ln w="9906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43514" y="589265"/>
            <a:ext cx="995655" cy="29801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8" b="1" i="0">
                <a:solidFill>
                  <a:srgbClr val="7455A4"/>
                </a:solidFill>
                <a:latin typeface="Arial"/>
              </a:rPr>
              <a:t>Aₛ = [Iₛ, Fₛ]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23195" y="1015974"/>
            <a:ext cx="1253035" cy="16932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C6877"/>
                </a:solidFill>
                <a:latin typeface="Arial"/>
              </a:rPr>
              <a:t>DETERMINISTIC σ SAMPLES</a:t>
            </a:r>
          </a:p>
        </p:txBody>
      </p:sp>
      <p:sp>
        <p:nvSpPr>
          <p:cNvPr id="104" name="Oval 103"/>
          <p:cNvSpPr/>
          <p:nvPr/>
        </p:nvSpPr>
        <p:spPr>
          <a:xfrm>
            <a:off x="2384153" y="1557827"/>
            <a:ext cx="149009" cy="149009"/>
          </a:xfrm>
          <a:prstGeom prst="ellipse">
            <a:avLst/>
          </a:prstGeom>
          <a:solidFill>
            <a:srgbClr val="2F6FAE"/>
          </a:solidFill>
          <a:ln w="5778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533163" y="1632332"/>
            <a:ext cx="1124345" cy="0"/>
          </a:xfrm>
          <a:prstGeom prst="line">
            <a:avLst/>
          </a:prstGeom>
          <a:ln w="13716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>
            <a:off x="2472204" y="1293674"/>
            <a:ext cx="1049840" cy="677316"/>
          </a:xfrm>
          <a:prstGeom prst="triangle">
            <a:avLst/>
          </a:prstGeom>
          <a:solidFill>
            <a:srgbClr val="E7F1FA"/>
          </a:solidFill>
          <a:ln w="5715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936166" y="1588306"/>
            <a:ext cx="88051" cy="88051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58275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−σ</a:t>
            </a:r>
          </a:p>
        </p:txBody>
      </p:sp>
      <p:sp>
        <p:nvSpPr>
          <p:cNvPr id="109" name="Oval 108"/>
          <p:cNvSpPr/>
          <p:nvPr/>
        </p:nvSpPr>
        <p:spPr>
          <a:xfrm>
            <a:off x="3196933" y="1578147"/>
            <a:ext cx="108370" cy="108370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29201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μ</a:t>
            </a:r>
          </a:p>
        </p:txBody>
      </p:sp>
      <p:sp>
        <p:nvSpPr>
          <p:cNvPr id="111" name="Oval 110"/>
          <p:cNvSpPr/>
          <p:nvPr/>
        </p:nvSpPr>
        <p:spPr>
          <a:xfrm>
            <a:off x="3478019" y="1588306"/>
            <a:ext cx="88051" cy="88051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00128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+σ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50287" y="1889712"/>
            <a:ext cx="1185303" cy="15578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 i="0">
                <a:solidFill>
                  <a:srgbClr val="7455A4"/>
                </a:solidFill>
                <a:latin typeface="Arial"/>
              </a:rPr>
              <a:t>zqk = clip(μ + ξkσ)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657508" y="1632332"/>
            <a:ext cx="338658" cy="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3951463" y="1587629"/>
            <a:ext cx="89405" cy="8940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989393" y="1083706"/>
            <a:ext cx="799233" cy="11175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36805" y="1124345"/>
            <a:ext cx="704409" cy="20996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CALIBRATED
PROJECTION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43578" y="1422364"/>
            <a:ext cx="690862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Kₛ → Tₛ→ₜ → Kₜ</a:t>
            </a: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4131630" y="1510415"/>
            <a:ext cx="501214" cy="345431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131630" y="1747476"/>
            <a:ext cx="501214" cy="10837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131630" y="1855846"/>
            <a:ext cx="501214" cy="128691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043578" y="1964217"/>
            <a:ext cx="690862" cy="15578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C6877"/>
                </a:solidFill>
                <a:latin typeface="Arial"/>
              </a:rPr>
              <a:t>Jacobian + tilt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795400" y="1632332"/>
            <a:ext cx="182875" cy="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4933572" y="1587629"/>
            <a:ext cx="89405" cy="8940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4985048" y="1029520"/>
            <a:ext cx="1015974" cy="1219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18914" y="1043067"/>
            <a:ext cx="948242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7455A4"/>
                </a:solidFill>
                <a:latin typeface="Arial"/>
              </a:rPr>
              <a:t>TARGET-PLANE
SPLATS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20511" y="1286901"/>
            <a:ext cx="745048" cy="629904"/>
          </a:xfrm>
          <a:prstGeom prst="rect">
            <a:avLst/>
          </a:prstGeom>
          <a:solidFill>
            <a:srgbClr val="F0EAF7"/>
          </a:solidFill>
          <a:ln w="7429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093419" y="1463003"/>
            <a:ext cx="392843" cy="135463"/>
          </a:xfrm>
          <a:prstGeom prst="ellipse">
            <a:avLst/>
          </a:prstGeom>
          <a:solidFill>
            <a:srgbClr val="FFFFFF"/>
          </a:solidFill>
          <a:ln w="12382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249202" y="1588306"/>
            <a:ext cx="474121" cy="169329"/>
          </a:xfrm>
          <a:prstGeom prst="ellipse">
            <a:avLst/>
          </a:prstGeom>
          <a:solidFill>
            <a:srgbClr val="FFFFFF"/>
          </a:solidFill>
          <a:ln w="12382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493036" y="1381725"/>
            <a:ext cx="352204" cy="121916"/>
          </a:xfrm>
          <a:prstGeom prst="ellipse">
            <a:avLst/>
          </a:prstGeom>
          <a:solidFill>
            <a:srgbClr val="FFFFFF"/>
          </a:solidFill>
          <a:ln w="12382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32460" y="1950671"/>
            <a:ext cx="927923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C6877"/>
                </a:solidFill>
                <a:latin typeface="Arial"/>
              </a:rPr>
              <a:t>anisotropic footprint
soft nearest surface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316422" y="2296102"/>
            <a:ext cx="3691374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ONE RASTERIZATION RETURNS BOTH
warped evidence + visibility statistics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316422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353674" y="2617827"/>
            <a:ext cx="623131" cy="386070"/>
          </a:xfrm>
          <a:prstGeom prst="rect">
            <a:avLst/>
          </a:prstGeom>
          <a:solidFill>
            <a:srgbClr val="F8DED5"/>
          </a:solidFill>
          <a:ln w="5715">
            <a:solidFill>
              <a:srgbClr val="F8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2370607" y="2752952"/>
            <a:ext cx="280680" cy="135125"/>
          </a:xfrm>
          <a:prstGeom prst="line">
            <a:avLst/>
          </a:prstGeom>
          <a:ln w="19716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651287" y="2752952"/>
            <a:ext cx="308585" cy="104239"/>
          </a:xfrm>
          <a:prstGeom prst="line">
            <a:avLst/>
          </a:prstGeom>
          <a:ln w="19716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329968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12857D"/>
                </a:solidFill>
                <a:latin typeface="Arial"/>
              </a:rPr>
              <a:t>warp  Iᵂ,Fᵂ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061470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098722" y="2617827"/>
            <a:ext cx="159169" cy="386070"/>
          </a:xfrm>
          <a:prstGeom prst="rect">
            <a:avLst/>
          </a:prstGeom>
          <a:solidFill>
            <a:srgbClr val="D6E7F4"/>
          </a:solidFill>
          <a:ln w="5715">
            <a:solidFill>
              <a:srgbClr val="D6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254505" y="2617827"/>
            <a:ext cx="159169" cy="386070"/>
          </a:xfrm>
          <a:prstGeom prst="rect">
            <a:avLst/>
          </a:prstGeom>
          <a:solidFill>
            <a:srgbClr val="A9CCE7"/>
          </a:solidFill>
          <a:ln w="5715">
            <a:solidFill>
              <a:srgbClr val="A9C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410288" y="2617827"/>
            <a:ext cx="159169" cy="386070"/>
          </a:xfrm>
          <a:prstGeom prst="rect">
            <a:avLst/>
          </a:prstGeom>
          <a:solidFill>
            <a:srgbClr val="73A9D2"/>
          </a:solidFill>
          <a:ln w="5715">
            <a:solidFill>
              <a:srgbClr val="73A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566070" y="2617827"/>
            <a:ext cx="159169" cy="386070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075016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2F6FAE"/>
                </a:solidFill>
                <a:latin typeface="Arial"/>
              </a:rPr>
              <a:t>depth  D̄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806518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874249" y="2942939"/>
            <a:ext cx="71118" cy="60958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992780" y="2881981"/>
            <a:ext cx="71118" cy="121916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111310" y="2821022"/>
            <a:ext cx="71118" cy="182875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229840" y="2861661"/>
            <a:ext cx="71118" cy="142236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20064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12857D"/>
                </a:solidFill>
                <a:latin typeface="Arial"/>
              </a:rPr>
              <a:t>support  S,C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551566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672128" y="2787156"/>
            <a:ext cx="56894" cy="47412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815042" y="2773610"/>
            <a:ext cx="89405" cy="74504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55924" y="2758371"/>
            <a:ext cx="125980" cy="104984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65112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D67723"/>
                </a:solidFill>
                <a:latin typeface="Arial"/>
              </a:rPr>
              <a:t>variance  V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96614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5357572" y="2714345"/>
            <a:ext cx="575719" cy="193035"/>
          </a:xfrm>
          <a:prstGeom prst="line">
            <a:avLst/>
          </a:prstGeom>
          <a:ln w="17145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357572" y="2714345"/>
            <a:ext cx="575719" cy="193035"/>
          </a:xfrm>
          <a:prstGeom prst="line">
            <a:avLst/>
          </a:prstGeom>
          <a:ln w="17145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5598020" y="2763450"/>
            <a:ext cx="94824" cy="9482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310160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collision  H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61470" y="3325623"/>
            <a:ext cx="2167412" cy="318338"/>
          </a:xfrm>
          <a:prstGeom prst="roundRect">
            <a:avLst>
              <a:gd name="adj" fmla="val 8000"/>
            </a:avLst>
          </a:prstGeom>
          <a:solidFill>
            <a:srgbClr val="F0EAF7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95335" y="3349329"/>
            <a:ext cx="2099680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455A4"/>
                </a:solidFill>
                <a:latin typeface="Arial"/>
              </a:rPr>
              <a:t>target reliability  κ = f(C, V, H)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48052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464985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12857D"/>
                </a:solidFill>
                <a:latin typeface="Arial"/>
              </a:rPr>
              <a:t>C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945879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62812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7455A4"/>
                </a:solidFill>
                <a:latin typeface="Arial"/>
              </a:rPr>
              <a:t>κ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43707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60640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D67723"/>
                </a:solidFill>
                <a:latin typeface="Arial"/>
              </a:rPr>
              <a:t>V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941534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958467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7455A4"/>
                </a:solidFill>
                <a:latin typeface="Arial"/>
              </a:rPr>
              <a:t>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439362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456295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2F6FAE"/>
                </a:solidFill>
                <a:latin typeface="Arial"/>
              </a:rPr>
              <a:t>D̄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937189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5C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954122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5C6877"/>
                </a:solidFill>
                <a:latin typeface="Arial"/>
              </a:rPr>
              <a:t>M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502237" y="866964"/>
            <a:ext cx="2973418" cy="11514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 i="0">
                <a:solidFill>
                  <a:srgbClr val="5C6877"/>
                </a:solidFill>
                <a:latin typeface="Arial"/>
              </a:rPr>
              <a:t>renderer-derived condition h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6204218" y="1097252"/>
            <a:ext cx="1788115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992333" y="1097252"/>
            <a:ext cx="88051" cy="54185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7296450">
            <a:off x="8041438" y="1112492"/>
            <a:ext cx="77891" cy="77891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569969" y="992268"/>
            <a:ext cx="914377" cy="948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2857D"/>
                </a:solidFill>
                <a:latin typeface="Arial"/>
              </a:rPr>
              <a:t>warped evidence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6061981" y="2858275"/>
            <a:ext cx="291246" cy="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53227" y="711182"/>
            <a:ext cx="0" cy="2147093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353227" y="711182"/>
            <a:ext cx="74505" cy="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Isosceles Triangle 181"/>
          <p:cNvSpPr/>
          <p:nvPr/>
        </p:nvSpPr>
        <p:spPr>
          <a:xfrm rot="5400000">
            <a:off x="6388786" y="672236"/>
            <a:ext cx="77891" cy="77891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7640128" y="1029520"/>
            <a:ext cx="0" cy="189649"/>
          </a:xfrm>
          <a:prstGeom prst="line">
            <a:avLst/>
          </a:prstGeom>
          <a:ln w="12858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/>
          <p:cNvSpPr/>
          <p:nvPr/>
        </p:nvSpPr>
        <p:spPr>
          <a:xfrm rot="10800000">
            <a:off x="7595426" y="1174466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502237" y="1232715"/>
            <a:ext cx="1368179" cy="1232715"/>
          </a:xfrm>
          <a:prstGeom prst="roundRect">
            <a:avLst>
              <a:gd name="adj" fmla="val 8000"/>
            </a:avLst>
          </a:prstGeom>
          <a:solidFill>
            <a:srgbClr val="FCEBD9"/>
          </a:solidFill>
          <a:ln w="11556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569969" y="1280127"/>
            <a:ext cx="1232715" cy="21674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3" b="1" i="0">
                <a:solidFill>
                  <a:srgbClr val="D67723"/>
                </a:solidFill>
                <a:latin typeface="Arial"/>
              </a:rPr>
              <a:t>BOUNDED ROUTER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637700" y="1564600"/>
            <a:ext cx="487667" cy="42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658020" y="1584920"/>
            <a:ext cx="447028" cy="38607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1" b="0" i="0">
                <a:solidFill>
                  <a:srgbClr val="172331"/>
                </a:solidFill>
                <a:latin typeface="Arial"/>
              </a:rPr>
              <a:t>physics
prior g⁰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145688" y="1645878"/>
            <a:ext cx="142236" cy="25738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D67723"/>
                </a:solidFill>
                <a:latin typeface="Arial"/>
              </a:rPr>
              <a:t>+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315017" y="1564600"/>
            <a:ext cx="419936" cy="42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335336" y="1584920"/>
            <a:ext cx="379297" cy="38607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1" b="0" i="0">
                <a:solidFill>
                  <a:srgbClr val="172331"/>
                </a:solidFill>
                <a:latin typeface="Arial"/>
              </a:rPr>
              <a:t>learned
Δg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705432" y="2099680"/>
            <a:ext cx="961789" cy="230287"/>
          </a:xfrm>
          <a:prstGeom prst="roundRect">
            <a:avLst>
              <a:gd name="adj" fmla="val 8000"/>
            </a:avLst>
          </a:prstGeom>
          <a:solidFill>
            <a:srgbClr val="D67723"/>
          </a:solidFill>
          <a:ln w="635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718978" y="2109840"/>
            <a:ext cx="934696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rial"/>
              </a:rPr>
              <a:t>g ∈ [0,1]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7890736" y="1537508"/>
            <a:ext cx="189648" cy="189648"/>
          </a:xfrm>
          <a:prstGeom prst="line">
            <a:avLst/>
          </a:prstGeom>
          <a:ln w="12858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Isosceles Triangle 194"/>
          <p:cNvSpPr/>
          <p:nvPr/>
        </p:nvSpPr>
        <p:spPr>
          <a:xfrm rot="2700000">
            <a:off x="8035681" y="1492805"/>
            <a:ext cx="89405" cy="89405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7890736" y="1977763"/>
            <a:ext cx="189648" cy="406390"/>
          </a:xfrm>
          <a:prstGeom prst="line">
            <a:avLst/>
          </a:prstGeom>
          <a:ln w="12858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Isosceles Triangle 196"/>
          <p:cNvSpPr/>
          <p:nvPr/>
        </p:nvSpPr>
        <p:spPr>
          <a:xfrm rot="9298986">
            <a:off x="8035681" y="2339450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856870" y="1368179"/>
            <a:ext cx="270926" cy="13546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12857D"/>
                </a:solidFill>
                <a:latin typeface="Arial"/>
              </a:rPr>
              <a:t>1−g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897509" y="2370607"/>
            <a:ext cx="176102" cy="13546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D67723"/>
                </a:solidFill>
                <a:latin typeface="Arial"/>
              </a:rPr>
              <a:t>g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093930" y="1151437"/>
            <a:ext cx="1388498" cy="785687"/>
          </a:xfrm>
          <a:prstGeom prst="roundRect">
            <a:avLst>
              <a:gd name="adj" fmla="val 8000"/>
            </a:avLst>
          </a:prstGeom>
          <a:solidFill>
            <a:srgbClr val="E3F3F0"/>
          </a:solidFill>
          <a:ln w="11556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154889" y="1192076"/>
            <a:ext cx="126658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8" b="1" i="0">
                <a:solidFill>
                  <a:srgbClr val="12857D"/>
                </a:solidFill>
                <a:latin typeface="Arial"/>
              </a:rPr>
              <a:t>TRANSPORT EXPERT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154889" y="1422364"/>
            <a:ext cx="1266581" cy="32511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warped evidence
+ bounded ΔRGB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093930" y="2099680"/>
            <a:ext cx="1388498" cy="873738"/>
          </a:xfrm>
          <a:prstGeom prst="roundRect">
            <a:avLst>
              <a:gd name="adj" fmla="val 8000"/>
            </a:avLst>
          </a:prstGeom>
          <a:solidFill>
            <a:srgbClr val="FCEBD9"/>
          </a:solidFill>
          <a:ln w="11556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154889" y="2140319"/>
            <a:ext cx="126658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8" b="1" i="0">
                <a:solidFill>
                  <a:srgbClr val="D67723"/>
                </a:solidFill>
                <a:latin typeface="Arial"/>
              </a:rPr>
              <a:t>SYNTHESIS EXPERT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154889" y="2370607"/>
            <a:ext cx="1266581" cy="39284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local conv + FFT
RGB · depth · risk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9495975" y="1544281"/>
            <a:ext cx="108371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604346" y="1544281"/>
            <a:ext cx="0" cy="1828754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9536614" y="3373035"/>
            <a:ext cx="67732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/>
          <p:cNvSpPr/>
          <p:nvPr/>
        </p:nvSpPr>
        <p:spPr>
          <a:xfrm rot="16200000">
            <a:off x="9497669" y="3334089"/>
            <a:ext cx="77891" cy="77891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8784793" y="2993738"/>
            <a:ext cx="0" cy="128690"/>
          </a:xfrm>
          <a:prstGeom prst="line">
            <a:avLst/>
          </a:prstGeom>
          <a:ln w="12001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 rot="10800000">
            <a:off x="8740090" y="3077725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7992333" y="3135974"/>
            <a:ext cx="1544281" cy="4741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556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046518" y="3169840"/>
            <a:ext cx="1435910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172331"/>
                </a:solidFill>
                <a:latin typeface="Arial"/>
              </a:rPr>
              <a:t>SOFT FUSION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060065" y="3332396"/>
            <a:ext cx="1408818" cy="20996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0" i="0">
                <a:solidFill>
                  <a:srgbClr val="5C6877"/>
                </a:solidFill>
                <a:latin typeface="Arial"/>
              </a:rPr>
              <a:t>(1−g) transport + g synthesis</a:t>
            </a:r>
          </a:p>
        </p:txBody>
      </p:sp>
      <p:cxnSp>
        <p:nvCxnSpPr>
          <p:cNvPr id="215" name="Connector 214"/>
          <p:cNvCxnSpPr/>
          <p:nvPr/>
        </p:nvCxnSpPr>
        <p:spPr>
          <a:xfrm flipV="1">
            <a:off x="9550161" y="2587348"/>
            <a:ext cx="406390" cy="785687"/>
          </a:xfrm>
          <a:prstGeom prst="line">
            <a:avLst/>
          </a:prstGeom>
          <a:ln w="15430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Isosceles Triangle 215"/>
          <p:cNvSpPr/>
          <p:nvPr/>
        </p:nvSpPr>
        <p:spPr>
          <a:xfrm rot="1640993">
            <a:off x="9908122" y="2538920"/>
            <a:ext cx="96856" cy="96856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9956551" y="1896485"/>
            <a:ext cx="1964217" cy="839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2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024282" y="1937124"/>
            <a:ext cx="1828754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72331"/>
                </a:solidFill>
                <a:latin typeface="Arial"/>
              </a:rPr>
              <a:t>FUSED OUTPUT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024282" y="2167412"/>
            <a:ext cx="1828754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5C6877"/>
                </a:solidFill>
                <a:latin typeface="Arial"/>
              </a:rPr>
              <a:t>blended RGB-D
+ predicted risk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0024282" y="2912460"/>
            <a:ext cx="1828754" cy="670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2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092014" y="2980192"/>
            <a:ext cx="799233" cy="352204"/>
          </a:xfrm>
          <a:prstGeom prst="rect">
            <a:avLst/>
          </a:prstGeom>
          <a:solidFill>
            <a:srgbClr val="E3F3F0"/>
          </a:solidFill>
          <a:ln w="5715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891247" y="2980192"/>
            <a:ext cx="894057" cy="352204"/>
          </a:xfrm>
          <a:prstGeom prst="rect">
            <a:avLst/>
          </a:prstGeom>
          <a:solidFill>
            <a:srgbClr val="FCEBD9"/>
          </a:solidFill>
          <a:ln w="5715">
            <a:solidFill>
              <a:srgbClr val="FCE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 flipV="1">
            <a:off x="10146199" y="3095335"/>
            <a:ext cx="1571374" cy="115144"/>
          </a:xfrm>
          <a:prstGeom prst="line">
            <a:avLst/>
          </a:prstGeom>
          <a:ln w="22288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/>
          <p:cNvSpPr/>
          <p:nvPr/>
        </p:nvSpPr>
        <p:spPr>
          <a:xfrm>
            <a:off x="11277318" y="3203706"/>
            <a:ext cx="50798" cy="67731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375528" y="3156294"/>
            <a:ext cx="50798" cy="115143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473739" y="3108882"/>
            <a:ext cx="50798" cy="162555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0037829" y="3373035"/>
            <a:ext cx="1801661" cy="16932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2331"/>
                </a:solidFill>
                <a:latin typeface="Arial"/>
              </a:rPr>
              <a:t>Îₜ  ·  D̂ₜ  ·  Uₜ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10938659" y="2756677"/>
            <a:ext cx="0" cy="128690"/>
          </a:xfrm>
          <a:prstGeom prst="line">
            <a:avLst/>
          </a:prstGeom>
          <a:ln w="13716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Isosceles Triangle 228"/>
          <p:cNvSpPr/>
          <p:nvPr/>
        </p:nvSpPr>
        <p:spPr>
          <a:xfrm rot="10800000">
            <a:off x="10893956" y="2840664"/>
            <a:ext cx="89405" cy="89405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67731" y="3928435"/>
            <a:ext cx="12056231" cy="1070159"/>
          </a:xfrm>
          <a:prstGeom prst="roundRect">
            <a:avLst>
              <a:gd name="adj" fmla="val 8000"/>
            </a:avLst>
          </a:prstGeom>
          <a:solidFill>
            <a:srgbClr val="F3F0F8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203194" y="4030032"/>
            <a:ext cx="1693291" cy="284472"/>
          </a:xfrm>
          <a:prstGeom prst="roundRect">
            <a:avLst>
              <a:gd name="adj" fmla="val 8000"/>
            </a:avLst>
          </a:prstGeom>
          <a:solidFill>
            <a:srgbClr val="7455A4"/>
          </a:solidFill>
          <a:ln w="635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30287" y="4046965"/>
            <a:ext cx="1639105" cy="24383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TRAINING ONLY · DASHED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964217" y="4389010"/>
            <a:ext cx="1896485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011629" y="4412716"/>
            <a:ext cx="1801661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455A4"/>
                </a:solidFill>
                <a:latin typeface="Arial"/>
              </a:rPr>
              <a:t>target RGB-D + mask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011629" y="4585432"/>
            <a:ext cx="1801661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0" i="0">
                <a:solidFill>
                  <a:srgbClr val="5C6877"/>
                </a:solidFill>
                <a:latin typeface="Arial"/>
              </a:rPr>
              <a:t>supervision; not an inference input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199361" y="4389010"/>
            <a:ext cx="2506070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246773" y="4416102"/>
            <a:ext cx="2411246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1" i="0">
                <a:solidFill>
                  <a:srgbClr val="7455A4"/>
                </a:solidFill>
                <a:latin typeface="Arial"/>
              </a:rPr>
              <a:t>Lrgb · Ldepth · Lrouter · Lrisk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111822" y="4389010"/>
            <a:ext cx="1828754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159234" y="4416102"/>
            <a:ext cx="1733929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7455A4"/>
                </a:solidFill>
                <a:latin typeface="Arial"/>
              </a:rPr>
              <a:t>BACKWARD DSS
Tₜ→ₛ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9346966" y="4389010"/>
            <a:ext cx="2302875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394378" y="4416102"/>
            <a:ext cx="2208051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source-view cycle  Lcyc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3887796" y="4598978"/>
            <a:ext cx="277699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 rot="5400000">
            <a:off x="4124518" y="4558000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967669" y="4598978"/>
            <a:ext cx="345431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 rot="5400000">
            <a:off x="9272122" y="4558000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 flipH="1">
            <a:off x="6732525" y="4802173"/>
            <a:ext cx="2587348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Isosceles Triangle 246"/>
          <p:cNvSpPr/>
          <p:nvPr/>
        </p:nvSpPr>
        <p:spPr>
          <a:xfrm rot="16200000">
            <a:off x="6691547" y="4761195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 flipH="1">
            <a:off x="8060065" y="3603323"/>
            <a:ext cx="2878594" cy="758594"/>
          </a:xfrm>
          <a:prstGeom prst="line">
            <a:avLst/>
          </a:prstGeom>
          <a:ln w="12001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Isosceles Triangle 248"/>
          <p:cNvSpPr/>
          <p:nvPr/>
        </p:nvSpPr>
        <p:spPr>
          <a:xfrm rot="15314192">
            <a:off x="8019087" y="4320939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7565624" y="3975847"/>
            <a:ext cx="2208051" cy="264153"/>
          </a:xfrm>
          <a:prstGeom prst="roundRect">
            <a:avLst>
              <a:gd name="adj" fmla="val 8000"/>
            </a:avLst>
          </a:prstGeom>
          <a:solidFill>
            <a:srgbClr val="F3F0F8"/>
          </a:solidFill>
          <a:ln w="6350">
            <a:solidFill>
              <a:srgbClr val="F3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585943" y="3989393"/>
            <a:ext cx="2167412" cy="23706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predicted RGB-D +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3194" y="74504"/>
            <a:ext cx="11785305" cy="35220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2" b="1" i="0">
                <a:solidFill>
                  <a:srgbClr val="172331"/>
                </a:solidFill>
                <a:latin typeface="Arial"/>
              </a:rPr>
              <a:t>NO-HARD COMPOSITION · TRACEABLE SINGLE-FRAME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194" y="406389"/>
            <a:ext cx="11785305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5C6877"/>
                </a:solidFill>
                <a:latin typeface="Arial"/>
              </a:rPr>
              <a:t>Matched forward pass: tool_3 / frame_000002 · step 10,000 · no post-processing · tool_4 is shown separately as a train-split appearance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731" y="677316"/>
            <a:ext cx="2167412" cy="4233227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731" y="677316"/>
            <a:ext cx="2167412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1916" y="1036294"/>
            <a:ext cx="2059042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69329" y="741661"/>
            <a:ext cx="230287" cy="230287"/>
          </a:xfrm>
          <a:prstGeom prst="ellipse">
            <a:avLst/>
          </a:prstGeom>
          <a:solidFill>
            <a:srgbClr val="2F6FAE"/>
          </a:solidFill>
          <a:ln w="6604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2715" y="741661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82" y="714568"/>
            <a:ext cx="1747476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F6FAE"/>
                </a:solidFill>
                <a:latin typeface="Arial"/>
              </a:rPr>
              <a:t>INPUT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2875" y="677316"/>
            <a:ext cx="3792971" cy="4233227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2875" y="677316"/>
            <a:ext cx="3792971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57061" y="1036294"/>
            <a:ext cx="3684601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04473" y="741661"/>
            <a:ext cx="230287" cy="230287"/>
          </a:xfrm>
          <a:prstGeom prst="ellipse">
            <a:avLst/>
          </a:prstGeom>
          <a:solidFill>
            <a:srgbClr val="7455A4"/>
          </a:solidFill>
          <a:ln w="6604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7859" y="741661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8626" y="714568"/>
            <a:ext cx="3373035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7455A4"/>
                </a:solidFill>
                <a:latin typeface="Arial"/>
              </a:rPr>
              <a:t>DSS GEOMETRY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579" y="677316"/>
            <a:ext cx="3928435" cy="4233227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579" y="677316"/>
            <a:ext cx="3928435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217764" y="1036294"/>
            <a:ext cx="3820065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265176" y="741661"/>
            <a:ext cx="230287" cy="230287"/>
          </a:xfrm>
          <a:prstGeom prst="ellipse">
            <a:avLst/>
          </a:prstGeom>
          <a:solidFill>
            <a:srgbClr val="D67723"/>
          </a:solidFill>
          <a:ln w="6604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8563" y="741661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9330" y="714568"/>
            <a:ext cx="3508498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D67723"/>
                </a:solidFill>
                <a:latin typeface="Arial"/>
              </a:rPr>
              <a:t>SOFT ROUTING + EXPERTS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59746" y="677316"/>
            <a:ext cx="1964217" cy="4233227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59746" y="677316"/>
            <a:ext cx="1964217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213931" y="1036294"/>
            <a:ext cx="1855847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61343" y="741661"/>
            <a:ext cx="230287" cy="230287"/>
          </a:xfrm>
          <a:prstGeom prst="ellipse">
            <a:avLst/>
          </a:prstGeom>
          <a:solidFill>
            <a:srgbClr val="12857D"/>
          </a:solidFill>
          <a:ln w="6604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64730" y="741661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5496" y="714568"/>
            <a:ext cx="1544281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12857D"/>
                </a:solidFill>
                <a:latin typeface="Arial"/>
              </a:rPr>
              <a:t>OUTPUT</a:t>
            </a:r>
          </a:p>
        </p:txBody>
      </p:sp>
      <p:pic>
        <p:nvPicPr>
          <p:cNvPr id="28" name="Evidence · matched tool_3 source  Iₛ" descr="01_matched_sourc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0" y="1151437"/>
            <a:ext cx="1828754" cy="146300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37060" y="1151437"/>
            <a:ext cx="1828754" cy="1463003"/>
          </a:xfrm>
          <a:prstGeom prst="rect">
            <a:avLst/>
          </a:prstGeom>
          <a:noFill/>
          <a:ln w="1016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060" y="2638147"/>
            <a:ext cx="1828754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2F6FAE"/>
                </a:solidFill>
                <a:latin typeface="Arial"/>
              </a:rPr>
              <a:t>matched tool_3 source  Iₛ</a:t>
            </a:r>
          </a:p>
        </p:txBody>
      </p:sp>
      <p:pic>
        <p:nvPicPr>
          <p:cNvPr id="31" name="Evidence · tool_4 RGB · TRAIN EXAMPLE" descr="00_requested_tool4_train_exemp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0" y="2980192"/>
            <a:ext cx="1828754" cy="146300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37060" y="2980192"/>
            <a:ext cx="1828754" cy="1463003"/>
          </a:xfrm>
          <a:prstGeom prst="rect">
            <a:avLst/>
          </a:prstGeom>
          <a:noFill/>
          <a:ln w="10160">
            <a:solidFill>
              <a:srgbClr val="2F6FA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060" y="4466901"/>
            <a:ext cx="1828754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2F6FAE"/>
                </a:solidFill>
                <a:latin typeface="Arial"/>
              </a:rPr>
              <a:t>tool_4 RGB · TRAIN EXAMPLE</a:t>
            </a:r>
          </a:p>
        </p:txBody>
      </p:sp>
      <p:pic>
        <p:nvPicPr>
          <p:cNvPr id="34" name="Evidence · DSS warp  Iₜʷ" descr="02_dss_wa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204" y="1151437"/>
            <a:ext cx="1625559" cy="1300447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472204" y="1151437"/>
            <a:ext cx="1625559" cy="1300447"/>
          </a:xfrm>
          <a:prstGeom prst="rect">
            <a:avLst/>
          </a:prstGeom>
          <a:noFill/>
          <a:ln w="1016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72204" y="2475591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DSS warp  Iₜʷ</a:t>
            </a:r>
          </a:p>
        </p:txBody>
      </p:sp>
      <p:pic>
        <p:nvPicPr>
          <p:cNvPr id="37" name="Evidence · support  S" descr="05_dss_sup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959" y="1151437"/>
            <a:ext cx="1625559" cy="130044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300959" y="1151437"/>
            <a:ext cx="1625559" cy="1300447"/>
          </a:xfrm>
          <a:prstGeom prst="rect">
            <a:avLst/>
          </a:prstGeom>
          <a:noFill/>
          <a:ln w="1016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00959" y="2475591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support  S</a:t>
            </a:r>
          </a:p>
        </p:txBody>
      </p:sp>
      <p:pic>
        <p:nvPicPr>
          <p:cNvPr id="40" name="Evidence · variance  V" descr="06_dss_vari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204" y="2980192"/>
            <a:ext cx="1625559" cy="1300447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472204" y="2980192"/>
            <a:ext cx="1625559" cy="1300447"/>
          </a:xfrm>
          <a:prstGeom prst="rect">
            <a:avLst/>
          </a:prstGeom>
          <a:noFill/>
          <a:ln w="1016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72204" y="4304345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variance  V</a:t>
            </a:r>
          </a:p>
        </p:txBody>
      </p:sp>
      <p:pic>
        <p:nvPicPr>
          <p:cNvPr id="43" name="Evidence · collision entropy  H" descr="07_collision_entrop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959" y="2980192"/>
            <a:ext cx="1625559" cy="1300447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4300959" y="2980192"/>
            <a:ext cx="1625559" cy="1300447"/>
          </a:xfrm>
          <a:prstGeom prst="rect">
            <a:avLst/>
          </a:prstGeom>
          <a:noFill/>
          <a:ln w="1016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00959" y="4304345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collision entropy  H</a:t>
            </a:r>
          </a:p>
        </p:txBody>
      </p:sp>
      <p:pic>
        <p:nvPicPr>
          <p:cNvPr id="46" name="Evidence · physics prior  g⁰" descr="08_physics_pri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908" y="1151437"/>
            <a:ext cx="1693291" cy="1354632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332908" y="1151437"/>
            <a:ext cx="1693291" cy="1354632"/>
          </a:xfrm>
          <a:prstGeom prst="rect">
            <a:avLst/>
          </a:prstGeom>
          <a:noFill/>
          <a:ln w="1016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2908" y="2529776"/>
            <a:ext cx="169329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physics prior  g⁰</a:t>
            </a:r>
          </a:p>
        </p:txBody>
      </p:sp>
      <p:pic>
        <p:nvPicPr>
          <p:cNvPr id="49" name="Evidence · synthesis gate  g" descr="11_synthesis_g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394" y="1151437"/>
            <a:ext cx="1693291" cy="135463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8229394" y="1151437"/>
            <a:ext cx="1693291" cy="1354632"/>
          </a:xfrm>
          <a:prstGeom prst="rect">
            <a:avLst/>
          </a:prstGeom>
          <a:noFill/>
          <a:ln w="1016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394" y="2529776"/>
            <a:ext cx="169329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D67723"/>
                </a:solidFill>
                <a:latin typeface="Arial"/>
              </a:rPr>
              <a:t>synthesis gate  g</a:t>
            </a:r>
          </a:p>
        </p:txBody>
      </p:sp>
      <p:pic>
        <p:nvPicPr>
          <p:cNvPr id="52" name="Evidence · transport expert" descr="09_transport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2908" y="2980192"/>
            <a:ext cx="1693291" cy="135463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6332908" y="2980192"/>
            <a:ext cx="1693291" cy="1354632"/>
          </a:xfrm>
          <a:prstGeom prst="rect">
            <a:avLst/>
          </a:prstGeom>
          <a:noFill/>
          <a:ln w="1016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2908" y="4358531"/>
            <a:ext cx="169329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12857D"/>
                </a:solidFill>
                <a:latin typeface="Arial"/>
              </a:rPr>
              <a:t>transport expert</a:t>
            </a:r>
          </a:p>
        </p:txBody>
      </p:sp>
      <p:pic>
        <p:nvPicPr>
          <p:cNvPr id="55" name="Evidence · synthesis expert" descr="10_synthesis_rg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394" y="2980192"/>
            <a:ext cx="1693291" cy="135463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229394" y="2980192"/>
            <a:ext cx="1693291" cy="1354632"/>
          </a:xfrm>
          <a:prstGeom prst="rect">
            <a:avLst/>
          </a:prstGeom>
          <a:noFill/>
          <a:ln w="1016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394" y="4358531"/>
            <a:ext cx="169329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D67723"/>
                </a:solidFill>
                <a:latin typeface="Arial"/>
              </a:rPr>
              <a:t>synthesis expert</a:t>
            </a:r>
          </a:p>
        </p:txBody>
      </p:sp>
      <p:pic>
        <p:nvPicPr>
          <p:cNvPr id="58" name="Evidence · soft-fused RGB" descr="12_soft_fused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29075" y="1151437"/>
            <a:ext cx="1625559" cy="1300447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10329075" y="1151437"/>
            <a:ext cx="1625559" cy="1300447"/>
          </a:xfrm>
          <a:prstGeom prst="rect">
            <a:avLst/>
          </a:prstGeom>
          <a:noFill/>
          <a:ln w="1016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29075" y="2475591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12857D"/>
                </a:solidFill>
                <a:latin typeface="Arial"/>
              </a:rPr>
              <a:t>soft-fused RGB</a:t>
            </a:r>
          </a:p>
        </p:txBody>
      </p:sp>
      <p:pic>
        <p:nvPicPr>
          <p:cNvPr id="61" name="Evidence · predicted risk  Uₜ" descr="13_predicted_ris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9075" y="2980192"/>
            <a:ext cx="1625559" cy="1300447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0329075" y="2980192"/>
            <a:ext cx="1625559" cy="1300447"/>
          </a:xfrm>
          <a:prstGeom prst="rect">
            <a:avLst/>
          </a:prstGeom>
          <a:noFill/>
          <a:ln w="1016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29075" y="4304345"/>
            <a:ext cx="1625559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D67723"/>
                </a:solidFill>
                <a:latin typeface="Arial"/>
              </a:rPr>
              <a:t>predicted risk  Uₜ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180958" y="2776997"/>
            <a:ext cx="108371" cy="0"/>
          </a:xfrm>
          <a:prstGeom prst="line">
            <a:avLst/>
          </a:prstGeom>
          <a:ln w="12858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2248351" y="2736019"/>
            <a:ext cx="81955" cy="81955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6041662" y="2776997"/>
            <a:ext cx="108370" cy="0"/>
          </a:xfrm>
          <a:prstGeom prst="line">
            <a:avLst/>
          </a:prstGeom>
          <a:ln w="12858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6109055" y="2736019"/>
            <a:ext cx="81955" cy="81955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0037829" y="2776997"/>
            <a:ext cx="108370" cy="0"/>
          </a:xfrm>
          <a:prstGeom prst="line">
            <a:avLst/>
          </a:prstGeom>
          <a:ln w="12858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10105222" y="2736019"/>
            <a:ext cx="81955" cy="81955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8658" y="338658"/>
            <a:ext cx="11514378" cy="47412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172331"/>
                </a:solidFill>
                <a:latin typeface="Arial"/>
              </a:rPr>
              <a:t>DistriNVS framework · editing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658" y="880511"/>
            <a:ext cx="11514378" cy="6773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C6877"/>
                </a:solidFill>
                <a:latin typeface="Arial"/>
              </a:rPr>
              <a:t>Recommended paper size: 183 × 76 mm (double column). Keep the renderer-derived statistics, constrained gate, two experts, fused output, and training-only cycle visually distinct.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389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2F6FAE"/>
          </a:solidFill>
          <a:ln w="6604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0926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source /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2811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7455A4"/>
          </a:solidFill>
          <a:ln w="6604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348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DSS / geometry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234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12857D"/>
          </a:solidFill>
          <a:ln w="6604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3770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transport /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5656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D67723"/>
          </a:solidFill>
          <a:ln w="6604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0192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synthesis /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2078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E99B87"/>
          </a:solidFill>
          <a:ln w="6604">
            <a:solidFill>
              <a:srgbClr val="E99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6614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endoscopic appearance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658" y="3318850"/>
            <a:ext cx="11514378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172331"/>
                </a:solidFill>
                <a:latin typeface="Arial"/>
              </a:rPr>
              <a:t>Suggested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658" y="3725240"/>
            <a:ext cx="11514378" cy="101597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8" b="0" i="0">
                <a:solidFill>
                  <a:srgbClr val="5C6877"/>
                </a:solidFill>
                <a:latin typeface="Arial"/>
              </a:rPr>
              <a:t>DistriNVS framework. A reliability encoder predicts source geometry and features. DSS transports deterministic depth hypotheses through the calibrated cross-endoscope transform and jointly produces warped evidence and target-plane visibility statistics. These statistics condition a reliability-constrained soft mixture of a residual transport expert and a Fourier synthesis expert. Solid arrows denote inference; the dashed lower lane is used only during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