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0990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39"/>
            <a:ext cx="5486400" cy="365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2331"/>
                </a:solidFill>
                <a:latin typeface="Arial"/>
              </a:rPr>
              <a:t>CROSS-ENDOSCOPE NVS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1371600" y="1645920"/>
            <a:ext cx="4206240" cy="2011680"/>
          </a:xfrm>
          <a:prstGeom prst="triangle">
            <a:avLst/>
          </a:prstGeom>
          <a:solidFill>
            <a:srgbClr val="E7F1FA"/>
          </a:solidFill>
          <a:ln w="889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4023360" y="1645920"/>
            <a:ext cx="4389120" cy="2011680"/>
          </a:xfrm>
          <a:prstGeom prst="triangle">
            <a:avLst/>
          </a:prstGeom>
          <a:solidFill>
            <a:srgbClr val="F0EAF7"/>
          </a:solidFill>
          <a:ln w="889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ave 4"/>
          <p:cNvSpPr/>
          <p:nvPr/>
        </p:nvSpPr>
        <p:spPr>
          <a:xfrm>
            <a:off x="457200" y="3200399"/>
            <a:ext cx="8503920" cy="640080"/>
          </a:xfrm>
          <a:prstGeom prst="wave">
            <a:avLst/>
          </a:prstGeom>
          <a:solidFill>
            <a:srgbClr val="F8DED5"/>
          </a:solidFill>
          <a:ln w="13970">
            <a:solidFill>
              <a:srgbClr val="E99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3931920" y="3172968"/>
            <a:ext cx="1737360" cy="457200"/>
          </a:xfrm>
          <a:prstGeom prst="arc">
            <a:avLst/>
          </a:prstGeom>
          <a:noFill/>
          <a:ln w="3810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5852160" y="3163824"/>
            <a:ext cx="1828800" cy="475487"/>
          </a:xfrm>
          <a:prstGeom prst="arc">
            <a:avLst/>
          </a:prstGeom>
          <a:noFill/>
          <a:ln w="3810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2820000">
            <a:off x="914400" y="950975"/>
            <a:ext cx="1143000" cy="4754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820000">
            <a:off x="1207008" y="1088136"/>
            <a:ext cx="329184" cy="201168"/>
          </a:xfrm>
          <a:prstGeom prst="rect">
            <a:avLst/>
          </a:prstGeom>
          <a:solidFill>
            <a:srgbClr val="2F6FAE"/>
          </a:solidFill>
          <a:ln w="508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833042" y="1536469"/>
            <a:ext cx="511367" cy="548375"/>
          </a:xfrm>
          <a:prstGeom prst="line">
            <a:avLst/>
          </a:prstGeom>
          <a:ln w="3810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 rot="2820000">
            <a:off x="2252969" y="1947684"/>
            <a:ext cx="182880" cy="274319"/>
          </a:xfrm>
          <a:prstGeom prst="ellipse">
            <a:avLst/>
          </a:prstGeom>
          <a:solidFill>
            <a:srgbClr val="172331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"/>
            <a:ext cx="18288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F6FAE"/>
                </a:solidFill>
                <a:latin typeface="Arial"/>
              </a:rPr>
              <a:t>SOURCE ENDOSCOPE</a:t>
            </a:r>
          </a:p>
        </p:txBody>
      </p:sp>
      <p:sp>
        <p:nvSpPr>
          <p:cNvPr id="13" name="Rounded Rectangle 12"/>
          <p:cNvSpPr/>
          <p:nvPr/>
        </p:nvSpPr>
        <p:spPr>
          <a:xfrm rot="7980000">
            <a:off x="6949440" y="950975"/>
            <a:ext cx="1143000" cy="4754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7980000">
            <a:off x="7242048" y="1088136"/>
            <a:ext cx="329184" cy="201168"/>
          </a:xfrm>
          <a:prstGeom prst="rect">
            <a:avLst/>
          </a:prstGeom>
          <a:solidFill>
            <a:srgbClr val="7455A4"/>
          </a:solidFill>
          <a:ln w="5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6708150" y="1536469"/>
            <a:ext cx="511367" cy="548375"/>
          </a:xfrm>
          <a:prstGeom prst="line">
            <a:avLst/>
          </a:prstGeom>
          <a:ln w="38100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 rot="7980000">
            <a:off x="6616710" y="1947684"/>
            <a:ext cx="182880" cy="274319"/>
          </a:xfrm>
          <a:prstGeom prst="ellipse">
            <a:avLst/>
          </a:prstGeom>
          <a:solidFill>
            <a:srgbClr val="172331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38912"/>
            <a:ext cx="18288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7455A4"/>
                </a:solidFill>
                <a:latin typeface="Arial"/>
              </a:rPr>
              <a:t>TARGET ENDOSCOPE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1097279"/>
            <a:ext cx="2560320" cy="0"/>
          </a:xfrm>
          <a:prstGeom prst="line">
            <a:avLst/>
          </a:prstGeom>
          <a:ln w="13970">
            <a:solidFill>
              <a:srgbClr val="5C6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6200000">
            <a:off x="3163824" y="996696"/>
            <a:ext cx="201168" cy="201168"/>
          </a:xfrm>
          <a:prstGeom prst="triangle">
            <a:avLst/>
          </a:prstGeom>
          <a:solidFill>
            <a:srgbClr val="5C6877"/>
          </a:solidFill>
          <a:ln w="5080">
            <a:solidFill>
              <a:srgbClr val="5C6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5779008" y="996696"/>
            <a:ext cx="201168" cy="201168"/>
          </a:xfrm>
          <a:prstGeom prst="triangle">
            <a:avLst/>
          </a:prstGeom>
          <a:solidFill>
            <a:srgbClr val="5C6877"/>
          </a:solidFill>
          <a:ln w="5080">
            <a:solidFill>
              <a:srgbClr val="5C6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694944"/>
            <a:ext cx="23774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6877"/>
                </a:solidFill>
                <a:latin typeface="Arial"/>
              </a:rPr>
              <a:t>calibrated source →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584448"/>
            <a:ext cx="20116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857D"/>
                </a:solidFill>
                <a:latin typeface="Arial"/>
              </a:rPr>
              <a:t>source-supported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584448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D67723"/>
                </a:solidFill>
                <a:latin typeface="Arial"/>
              </a:rPr>
              <a:t>target-only</a:t>
            </a:r>
          </a:p>
        </p:txBody>
      </p:sp>
      <p:sp>
        <p:nvSpPr>
          <p:cNvPr id="24" name="Oval 23"/>
          <p:cNvSpPr/>
          <p:nvPr/>
        </p:nvSpPr>
        <p:spPr>
          <a:xfrm>
            <a:off x="2651760" y="2468879"/>
            <a:ext cx="137160" cy="137159"/>
          </a:xfrm>
          <a:prstGeom prst="ellipse">
            <a:avLst/>
          </a:prstGeom>
          <a:solidFill>
            <a:srgbClr val="2F6FA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08960" y="2743200"/>
            <a:ext cx="150876" cy="150875"/>
          </a:xfrm>
          <a:prstGeom prst="ellipse">
            <a:avLst/>
          </a:prstGeom>
          <a:solidFill>
            <a:srgbClr val="2F6FA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66160" y="3017520"/>
            <a:ext cx="164592" cy="164592"/>
          </a:xfrm>
          <a:prstGeom prst="ellipse">
            <a:avLst/>
          </a:prstGeom>
          <a:solidFill>
            <a:srgbClr val="2F6FA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2798064"/>
            <a:ext cx="18288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0" b="0">
                <a:solidFill>
                  <a:srgbClr val="2F6FAE"/>
                </a:solidFill>
                <a:latin typeface="Arial"/>
              </a:rPr>
              <a:t>depth distribution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968496"/>
            <a:ext cx="2011680" cy="475487"/>
          </a:xfrm>
          <a:prstGeom prst="roundRect">
            <a:avLst/>
          </a:prstGeom>
          <a:solidFill>
            <a:srgbClr val="172331"/>
          </a:solidFill>
          <a:ln w="762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032503"/>
            <a:ext cx="1828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DistriNVS</a:t>
            </a:r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434840" y="3730751"/>
            <a:ext cx="274320" cy="219455"/>
          </a:xfrm>
          <a:prstGeom prst="triangle">
            <a:avLst/>
          </a:prstGeom>
          <a:solidFill>
            <a:srgbClr val="172331"/>
          </a:solidFill>
          <a:ln w="508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2880" y="4581144"/>
            <a:ext cx="5760720" cy="649224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2336" y="4700016"/>
            <a:ext cx="402336" cy="402336"/>
          </a:xfrm>
          <a:prstGeom prst="ellipse">
            <a:avLst/>
          </a:prstGeom>
          <a:solidFill>
            <a:srgbClr val="12857D"/>
          </a:solidFill>
          <a:ln w="635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47000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636008"/>
            <a:ext cx="347472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0" b="1">
                <a:solidFill>
                  <a:srgbClr val="12857D"/>
                </a:solidFill>
                <a:latin typeface="Arial"/>
              </a:rPr>
              <a:t>TRANSPORT OBSERVED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873751"/>
            <a:ext cx="365760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72331"/>
                </a:solidFill>
                <a:latin typeface="Arial"/>
              </a:rPr>
              <a:t>DSS: support · variance · collision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4700016"/>
            <a:ext cx="96012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727448"/>
            <a:ext cx="8686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2857D"/>
                </a:solidFill>
                <a:latin typeface="Arial"/>
              </a:rPr>
              <a:t>transport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" y="5358384"/>
            <a:ext cx="5760720" cy="649224"/>
          </a:xfrm>
          <a:prstGeom prst="roundRect">
            <a:avLst/>
          </a:prstGeom>
          <a:solidFill>
            <a:srgbClr val="FCEBD9"/>
          </a:solidFill>
          <a:ln w="1270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2336" y="5477255"/>
            <a:ext cx="402336" cy="402336"/>
          </a:xfrm>
          <a:prstGeom prst="ellipse">
            <a:avLst/>
          </a:prstGeom>
          <a:solidFill>
            <a:srgbClr val="D67723"/>
          </a:solidFill>
          <a:ln w="635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5477255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413248"/>
            <a:ext cx="365760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0" b="1">
                <a:solidFill>
                  <a:srgbClr val="D67723"/>
                </a:solidFill>
                <a:latin typeface="Arial"/>
              </a:rPr>
              <a:t>SYNTHESIZE TARGET-ONLY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5650991"/>
            <a:ext cx="3657600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172331"/>
                </a:solidFill>
                <a:latin typeface="Arial"/>
              </a:rPr>
              <a:t>Fourier completion · predicted risk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5477255"/>
            <a:ext cx="96012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5513831"/>
            <a:ext cx="7772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30" b="1">
                <a:solidFill>
                  <a:srgbClr val="D67723"/>
                </a:solidFill>
                <a:latin typeface="Arial"/>
              </a:rPr>
              <a:t>inferred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297680"/>
            <a:ext cx="1645920" cy="2743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72331"/>
                </a:solidFill>
                <a:latin typeface="Arial"/>
              </a:rPr>
              <a:t>TARGET 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4581144"/>
            <a:ext cx="2331720" cy="142646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766560" y="4754879"/>
            <a:ext cx="932688" cy="1078992"/>
          </a:xfrm>
          <a:prstGeom prst="roundRect">
            <a:avLst/>
          </a:prstGeom>
          <a:solidFill>
            <a:srgbClr val="E3F3F0"/>
          </a:solidFill>
          <a:ln w="381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53527" y="4754879"/>
            <a:ext cx="987552" cy="1078992"/>
          </a:xfrm>
          <a:prstGeom prst="roundRect">
            <a:avLst/>
          </a:prstGeom>
          <a:solidFill>
            <a:srgbClr val="FCEBD9"/>
          </a:solidFill>
          <a:ln w="3810">
            <a:solidFill>
              <a:srgbClr val="FCE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03136" y="4773168"/>
            <a:ext cx="84124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2857D"/>
                </a:solidFill>
                <a:latin typeface="Arial"/>
              </a:rPr>
              <a:t>transport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0104" y="4773168"/>
            <a:ext cx="90525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D67723"/>
                </a:solidFill>
                <a:latin typeface="Arial"/>
              </a:rPr>
              <a:t>synthesis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903720" y="5349240"/>
            <a:ext cx="1581912" cy="0"/>
          </a:xfrm>
          <a:prstGeom prst="line">
            <a:avLst/>
          </a:prstGeom>
          <a:ln w="38100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7955279" y="5394959"/>
            <a:ext cx="68580" cy="128015"/>
          </a:xfrm>
          <a:prstGeom prst="rect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83296" y="5321807"/>
            <a:ext cx="68580" cy="201168"/>
          </a:xfrm>
          <a:prstGeom prst="rect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11312" y="5248656"/>
            <a:ext cx="68580" cy="274319"/>
          </a:xfrm>
          <a:prstGeom prst="rect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09560" y="5669280"/>
            <a:ext cx="54864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D67723"/>
                </a:solidFill>
                <a:latin typeface="Arial"/>
              </a:rPr>
              <a:t>risk</a:t>
            </a:r>
          </a:p>
        </p:txBody>
      </p:sp>
      <p:sp>
        <p:nvSpPr>
          <p:cNvPr id="56" name="Chevron 55"/>
          <p:cNvSpPr/>
          <p:nvPr/>
        </p:nvSpPr>
        <p:spPr>
          <a:xfrm>
            <a:off x="6007608" y="4855464"/>
            <a:ext cx="393192" cy="274319"/>
          </a:xfrm>
          <a:prstGeom prst="chevron">
            <a:avLst/>
          </a:prstGeom>
          <a:solidFill>
            <a:srgbClr val="12857D"/>
          </a:solidFill>
          <a:ln w="508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evron 56"/>
          <p:cNvSpPr/>
          <p:nvPr/>
        </p:nvSpPr>
        <p:spPr>
          <a:xfrm>
            <a:off x="6007608" y="5632704"/>
            <a:ext cx="393192" cy="274319"/>
          </a:xfrm>
          <a:prstGeom prst="chevron">
            <a:avLst/>
          </a:prstGeom>
          <a:solidFill>
            <a:srgbClr val="D67723"/>
          </a:solidFill>
          <a:ln w="508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59"/>
            <a:ext cx="8229600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Arial"/>
              </a:rPr>
              <a:t>DistriNVS teaser · editing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19"/>
            <a:ext cx="804672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C6877"/>
                </a:solidFill>
                <a:latin typeface="Arial"/>
              </a:rPr>
              <a:t>Recommended final size: 88 mm wide (single column). Keep source and target endoscopes physically separate; amber always denotes inferred target-only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60320"/>
            <a:ext cx="1234440" cy="731519"/>
          </a:xfrm>
          <a:prstGeom prst="roundRect">
            <a:avLst/>
          </a:prstGeom>
          <a:solidFill>
            <a:srgbClr val="2F6FAE"/>
          </a:solidFill>
          <a:ln w="635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383279"/>
            <a:ext cx="14173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72331"/>
                </a:solidFill>
                <a:latin typeface="Arial"/>
              </a:rPr>
              <a:t>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2560320"/>
            <a:ext cx="1234440" cy="731519"/>
          </a:xfrm>
          <a:prstGeom prst="roundRect">
            <a:avLst/>
          </a:prstGeom>
          <a:solidFill>
            <a:srgbClr val="7455A4"/>
          </a:solidFill>
          <a:ln w="635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3383279"/>
            <a:ext cx="14173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72331"/>
                </a:solidFill>
                <a:latin typeface="Arial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560320"/>
            <a:ext cx="1234440" cy="731519"/>
          </a:xfrm>
          <a:prstGeom prst="roundRect">
            <a:avLst/>
          </a:prstGeom>
          <a:solidFill>
            <a:srgbClr val="12857D"/>
          </a:solidFill>
          <a:ln w="635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383279"/>
            <a:ext cx="14173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72331"/>
                </a:solidFill>
                <a:latin typeface="Arial"/>
              </a:rPr>
              <a:t>transport /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560320"/>
            <a:ext cx="1234440" cy="731519"/>
          </a:xfrm>
          <a:prstGeom prst="roundRect">
            <a:avLst/>
          </a:prstGeom>
          <a:solidFill>
            <a:srgbClr val="D67723"/>
          </a:solidFill>
          <a:ln w="635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3383279"/>
            <a:ext cx="14173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72331"/>
                </a:solidFill>
                <a:latin typeface="Arial"/>
              </a:rPr>
              <a:t>synthesis /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560320"/>
            <a:ext cx="1234440" cy="731519"/>
          </a:xfrm>
          <a:prstGeom prst="roundRect">
            <a:avLst/>
          </a:prstGeom>
          <a:solidFill>
            <a:srgbClr val="E99B87"/>
          </a:solidFill>
          <a:ln w="6350">
            <a:solidFill>
              <a:srgbClr val="E99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3383279"/>
            <a:ext cx="14173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72331"/>
                </a:solidFill>
                <a:latin typeface="Arial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19"/>
            <a:ext cx="8229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72331"/>
                </a:solidFill>
                <a:latin typeface="Arial"/>
              </a:rPr>
              <a:t>Suggested caption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59"/>
            <a:ext cx="8229600" cy="1005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C6877"/>
                </a:solidFill>
                <a:latin typeface="Arial"/>
              </a:rPr>
              <a:t>Cross-endoscope synthesis with explicit provenance. DSS transports source-supported anatomy and exposes visibility uncertainty; DistriNVS applies reliability-constrained soft fusion to transported and synthesized RGB-D.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